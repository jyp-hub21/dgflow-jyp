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645920"/>
            <a:ext cx="8534095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맑은 고딕"/>
              </a:defRPr>
            </a:pPr>
            <a:r>
              <a:t>동일유리 AX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맑은 고딕"/>
              </a:defRPr>
            </a:pPr>
            <a:r>
              <a:t>업무 분석 및 개발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931920"/>
            <a:ext cx="8534095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업무지원: 발주서 정리·검토·ERP 입력  |  생산: 재단·복층 실적 집계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맑은 고딕"/>
              </a:defRPr>
            </a:pPr>
            <a:r>
              <a:t>2026. 08. 30  |  충북대학교 &amp; 동일유리 PBL 교육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AX 대상 업무 개요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74519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발주서 → 작업의뢰서 프로세스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7744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발주서 양식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8036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발주서 → 규격정리 → ERP 입력 (데이터 변환)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38328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발주서 ↔ 작업의뢰서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8620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복층 생산실적 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AS-IS: 재단 생산실적 (절단일보)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89204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TO-BE: AX 개발 방향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9496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TO-BE: 기능별 상세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64008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맑은 고딕"/>
              </a:defRPr>
            </a:pPr>
            <a:r>
              <a:t>확인 필요 사항 / 논의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01  AX 대상 업무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동일유리 전체 업무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45720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맑은 고딕"/>
              </a:defRPr>
            </a:pPr>
            <a:r>
              <a:t>1. 공사관리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920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발주서 작성</a:t>
            </a:r>
            <a:br/>
            <a:r>
              <a:t>(실측/도면)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20574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920240"/>
            <a:ext cx="192024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2. 업무지원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468880"/>
            <a:ext cx="1920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발주서 정리, 검토</a:t>
            </a:r>
            <a:br/>
            <a:r>
              <a:t>ERP 입력, 생산지시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83479" y="20574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920240"/>
            <a:ext cx="1920240" cy="45720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맑은 고딕"/>
              </a:defRPr>
            </a:pPr>
            <a:r>
              <a:t>3. 생산관리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468880"/>
            <a:ext cx="1920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작업계획서 정리</a:t>
            </a:r>
            <a:br/>
            <a:r>
              <a:t>생산계획 수립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69479" y="20574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1920240"/>
            <a:ext cx="192024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4. 생산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468880"/>
            <a:ext cx="1920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재단·복층 실적</a:t>
            </a:r>
            <a:br/>
            <a:r>
              <a:t>(일간/주간)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55480" y="20574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0" y="1920240"/>
            <a:ext cx="1920240" cy="457200"/>
          </a:xfrm>
          <a:prstGeom prst="round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맑은 고딕"/>
              </a:defRPr>
            </a:pPr>
            <a:r>
              <a:t>5. 출고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468880"/>
            <a:ext cx="19202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출고 진행</a:t>
            </a:r>
            <a:br/>
            <a:r>
              <a:t>실적관리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AX 대상 2개 영역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02336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2011680"/>
                <a:gridCol w="2377440"/>
                <a:gridCol w="2499055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영역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업무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방식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문제점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AX 목표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업무지원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발주서 → 규격정리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→ ERP입력 → 작업의뢰서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수작업 엑셀 정리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수동 ERP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양식 다양, 수기 검증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오류 가능성 높음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자동 파싱·정리·검증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생산실적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작업의뢰서 → 수기체크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→ 생산일지/절단일보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수기 표시 후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수동 엑셀 입력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수기 기록 누락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집계 시간 과다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자동 집계·리포트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02  AS-IS: 발주서 → 작업의뢰서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1: 발주요청 수취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담당자로부터</a:t>
            </a:r>
            <a:br/>
            <a:r>
              <a:t>발주서 수신</a:t>
            </a:r>
            <a:br/>
            <a:r>
              <a:t>(엑셀 파일)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46888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2: 규격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920240"/>
            <a:ext cx="246888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품목별 규격·수량 정리</a:t>
            </a:r>
            <a:br/>
            <a:r>
              <a:t>동일 규격 그룹핑</a:t>
            </a:r>
            <a:br/>
            <a:r>
              <a:t>M2 면적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46888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3: ERP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46888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정리 엑셀을</a:t>
            </a:r>
            <a:br/>
            <a:r>
              <a:t>ERP(바이투)에 입력</a:t>
            </a:r>
            <a:br/>
            <a:r>
              <a:t>작업의뢰서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46888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STEP 4: 검증 및 전달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920240"/>
            <a:ext cx="246888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발주서 vs 작업의뢰서</a:t>
            </a:r>
            <a:br/>
            <a:r>
              <a:t>비교 검토</a:t>
            </a:r>
            <a:br/>
            <a:r>
              <a:t>생산지원팀 전달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46120" y="22860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080760" y="22860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915400" y="2286000"/>
            <a:ext cx="27432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맑은 고딕"/>
              </a:defRPr>
            </a:pPr>
            <a:r>
              <a:t>현재 문제점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발주서 양식이 담당자마다 완전히 다름 → 수작업 정리에 시간 소요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규격 그룹핑(동일 규격 묶기)을 사람이 직접 판단·실행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ERP 입력 후 작업의뢰서와 원본 발주서의 일치 여부를 육안으로 대조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오류 발생 시 생산 공정까지 영향 → 재작업, 납기 지연 위험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FDF2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맑은 고딕"/>
              </a:defRPr>
            </a:pPr>
            <a:r>
              <a:t>💡 개선 희망:  최초 발주요청서와 완성된 작업의뢰서의 내용이 일치하는지 자동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03  AS-IS: 발주서 양식 분석 — 6종의 서로 다른 양식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560320"/>
                <a:gridCol w="2560320"/>
                <a:gridCol w="2499055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담당자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시트 구성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양식 특징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컬럼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 규모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안광식 상무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17개 시트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골조도(동호수 배치도)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물량산출서 + 차수별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골조도 매트릭스에서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위치→규격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85행×69열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이충언 이사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3개 시트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(타입별)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타입별 주문내역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EA 단위, 개소×수량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NO/외판내판/두께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가로/세로/m2/위치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154행×21열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김길홍 과장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1개 시트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발주서 표 형태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발주번호 체계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위치/제품명/규격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수량/평수/실리콘/비고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64행×9열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오동석 부장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32개 시트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(날짜+내용별)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매우 세분화된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이력 관리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공사명/시공자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발주일/출고일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28행×13열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외주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대진글라스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6개 시트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골조도 + 동호수 배치도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글레이징/알유리 구분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배치도 기반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 매핑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42행×45열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외주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정석개발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1개 시트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생산의뢰서 형태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대량 데이터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품목/가로/세로/수량</a:t>
                      </a:r>
                    </a:p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위치비고/M2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484행×16열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FDF2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맑은 고딕"/>
              </a:defRPr>
            </a:pPr>
            <a:r>
              <a:t>→ 핵심 과제: 6종 이상의 서로 다른 양식에서 품명/규격/수량/위치를 정확히 추출하는 파서 개발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04  AS-IS: 발주서 → 규격정리 → ERP 입력 (데이터 변환 과정)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① 발주 원본 (34행)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3474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"/>
                <a:gridCol w="365760"/>
                <a:gridCol w="320040"/>
                <a:gridCol w="320040"/>
                <a:gridCol w="640080"/>
                <a:gridCol w="457200"/>
                <a:gridCol w="365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동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라인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창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1라인(1~6층)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발코니1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접합+로이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2라인(1~6층)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발코니1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59B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1라인(1~6층)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접합+로이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1라인(1~6층)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2라인(1~6층)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4023360" y="2560320"/>
            <a:ext cx="36576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20040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② 규격정리 (크기순 정렬 + M2)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600200"/>
          <a:ext cx="2834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57200"/>
                <a:gridCol w="457200"/>
                <a:gridCol w="365760"/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위치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302동1라인거실59A외창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302동2라인거실59B외창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1646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17.26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302동3라인거실59A외창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14.39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302동1라인침실2 59A외창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6.20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302동1라인침실3 59A외창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...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95.41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Right Arrow 8"/>
          <p:cNvSpPr/>
          <p:nvPr/>
        </p:nvSpPr>
        <p:spPr>
          <a:xfrm>
            <a:off x="7863840" y="2560320"/>
            <a:ext cx="36576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188720"/>
            <a:ext cx="329184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③ ERP 입력용 (10행으로 압축)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0" y="1600200"/>
          <a:ext cx="2834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"/>
                <a:gridCol w="457200"/>
                <a:gridCol w="457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위치 (묶음)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302동1~3라인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거실59A,B외창픽스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302동1~3라인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침실2,3 59A,B외창픽스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302동1,2라인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발코니159A,B단창픽스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302동1~3라인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주방/식당59A,B내창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794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302동1~3라인</a:t>
                      </a:r>
                    </a:p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다용도59A,B내창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규격 그룹핑 규칙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8463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3200400"/>
                <a:gridCol w="3962095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규칙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원본 (개별)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 (묶음)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라인 통합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1라인 + 2라인 + 3라인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1~3라인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연속: 1~3, 불연속: 1,2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타입 통합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 + 59B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59A,B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동일 규격의 다른 타입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 통합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 + 침실3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침실2,3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동일 규격의 다른 위치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수량 합산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 + 6 + 6 + 6 + 5 + 5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개별 수량 단순 합산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M2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가로×세로×수량 / 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mm 단위 → m2 변환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05  AS-IS: 발주서 ↔ 작업의뢰서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원본 발주서 (ERP 입력용)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463040"/>
                <a:gridCol w="914400"/>
                <a:gridCol w="5486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26.76T 10.76투명접합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+10A+6로이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1,646×1,748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거실59A,B외창픽스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591×1,748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침실2,3 외창픽스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543×1,745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발코니1 단창픽스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24T 6CL+12A+6CL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435×794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주방/식당 내창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285×794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다용도 내창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맑은 고딕"/>
              </a:defRPr>
            </a:pPr>
            <a:r>
              <a:t>비교</a:t>
            </a:r>
            <a:br/>
            <a:r>
              <a:t>검증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2560320"/>
            <a:ext cx="548640" cy="27432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(현재: 육안)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ERP 출력 작업의뢰서 (의뢰번호: 26-2247)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9164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914400"/>
                <a:gridCol w="548640"/>
                <a:gridCol w="5486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면적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26.76T 10.76투명접합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+10A+6로이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1,646×1,748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48.96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거실59A,B외창픽스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591×1,748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35.02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침실2,3 외창픽스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543×1,745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발코니1 단창픽스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95.38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24T 6CL+12A+6CL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435×794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주방/식당 내창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285×794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9.52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다용도 내창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21.42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206.74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검증 대상 항목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66928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7345375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검증 항목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내용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불일치 유형 예시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발주서 표기 ↔ ERP 표기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5CL/0.76PVB/5CL+10ALC+6EMT178 ≠ 26.76T 10.76투명접합+10A+6로이 (표기법 차이)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규격(가로×세로)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mm 단위 정수 비교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591×1748 vs 591×1,748 (쉼표 유무)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수량 = 의뢰 수량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 34 ≠ 의뢰 30 (입력 오류)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비고(위치)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위치정보 일치 여부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침실2,3 ≠ 침실2 (누락)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06  AS-IS: 복층 생산실적 집계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작업의뢰서</a:t>
            </a:r>
            <a:br/>
            <a:r>
              <a:t>(ERP 출력)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40" y="137160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1887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복층 생산</a:t>
            </a:r>
            <a:br/>
            <a:r>
              <a:t>+ MES 라벨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66360" y="137160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1188720"/>
            <a:ext cx="210312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수기 체크</a:t>
            </a:r>
            <a:br/>
            <a:r>
              <a:t>(작업의뢰서에 표시)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26679" y="137160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복층생산일지</a:t>
            </a:r>
            <a:br/>
            <a:r>
              <a:t>(엑셀 수기 입력)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287000" y="137160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11887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주간생산일지</a:t>
            </a:r>
            <a:br/>
            <a:r>
              <a:t>(주간 집계)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수기 체크 방식 (작업의뢰서에 직접 표시)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56032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표시 방법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빨간 동그라미 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전량 생산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수량 120 → ⭕ (120매 전량 완료)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수기 숫자 (빨간펜)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해당 수량만 생산 완료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수량 60 중 30만 완료 → '30'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검정 동그라미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이전에 생산된 수량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전일 생산분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날짜 메모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분할 생산 기록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8/22 23기, 납기 8/21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복층생산일지 엑셀 (일간) — 샘플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846320"/>
          <a:ext cx="8778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828800"/>
                <a:gridCol w="457200"/>
                <a:gridCol w="1463040"/>
                <a:gridCol w="457200"/>
                <a:gridCol w="365760"/>
                <a:gridCol w="548640"/>
                <a:gridCol w="548640"/>
                <a:gridCol w="914400"/>
                <a:gridCol w="640080"/>
                <a:gridCol w="7315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주문번호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거래처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종류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재료종류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두께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AR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수량외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수량(매)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수량(평)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계룡건설 KT인재개발원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6CL+12A+6로이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10조외10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216.71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26-0304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계룡건설 KT인재개발원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5CL+12Ar.+5로이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AR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1725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1981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18조외183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2334.92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6CL+12A+6로이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10조외18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223.03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26-0354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제일건설 인천검단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5newGN+14A+5로이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618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1890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12조외60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437.12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U3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5CL+14A+5로이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10조외90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1039.99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참고: 복층유리 = 외판 + 내판 1쌍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하나의 주문번호에 2행씩 기록 (외판/내판)</a:t>
            </a:r>
            <a:br/>
            <a:r>
              <a:t>• 종류 'U3': 복층유리 분류 코드</a:t>
            </a:r>
            <a:br/>
            <a:r>
              <a:t>• AR: 아르곤 가스 충전 여부</a:t>
            </a:r>
            <a:br/>
            <a:r>
              <a:t>• 수량외: '2조외24' = 2팔레트 + 24매</a:t>
            </a:r>
            <a:br/>
            <a:r>
              <a:t>• 시트 수: 103개 (1월~5월 영업일)</a:t>
            </a:r>
            <a:br/>
            <a:r>
              <a:t>• 업체현장명 마스터: 167개 거래처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07  AS-IS: 재단 생산실적 (절단일보)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재단 프로세스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작업의뢰서</a:t>
            </a:r>
            <a:br/>
            <a:r>
              <a:t>수령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6040" y="178308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원판에서</a:t>
            </a:r>
            <a:br/>
            <a:r>
              <a:t>유리 재단(절단)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66360" y="178308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103120" cy="6400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수기 체크</a:t>
            </a:r>
            <a:br/>
            <a:r>
              <a:t>(원판 종류/수량 기록)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26679" y="1783080"/>
            <a:ext cx="365760" cy="2286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2103120" cy="6400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절단일보</a:t>
            </a:r>
            <a:br/>
            <a:r>
              <a:t>(엑셀 수기 입력)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절단일보 엑셀 (일간) — 2026.08.25 샘플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8595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822960"/>
                <a:gridCol w="365760"/>
                <a:gridCol w="1005840"/>
                <a:gridCol w="457200"/>
                <a:gridCol w="548640"/>
                <a:gridCol w="137160"/>
                <a:gridCol w="822960"/>
                <a:gridCol w="594360"/>
                <a:gridCol w="594360"/>
                <a:gridCol w="594360"/>
                <a:gridCol w="594360"/>
                <a:gridCol w="128016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주문번호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거래처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두께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품명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가로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세로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수량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m2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26-2239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대원-용인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10투명강화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2239,2222 같이재단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26-2222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유광-오창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10투명강화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15.85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같이재단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26-2248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대진-대우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6CL+6CL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139.91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163.49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일면투명 재단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26-2191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정석-테크노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5newGN+5DURA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54.96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5NX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1829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73.59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정석 원판 사용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5CL+5DURA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54.96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73.59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정석 원판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절단일보 핵심 특징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• 좌측: 재단 대상 (어떤 주문의 어떤 유리를 절단했는지)</a:t>
            </a:r>
            <a:br/>
            <a:r>
              <a:t>• 우측: 사용 원판 (어떤 원판에서 몇 장을 사용했는지)</a:t>
            </a:r>
            <a:br/>
            <a:r>
              <a:t>• 여러 주문을 하나의 원판에서 함께 재단 가능 ('같이재단')</a:t>
            </a:r>
            <a:br/>
            <a:r>
              <a:t>• '오도시': 소량 건은 재단기 없이 수작업 절단</a:t>
            </a:r>
            <a:br/>
            <a:r>
              <a:t>• 시트 수: 185개 (1월~8월 영업일)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확인된 표준 원판 규격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0" y="576072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0584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원판 코드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가로(mm)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세로(mm)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면적(m2)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표준1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표준2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1981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6.64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표준3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표준4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1829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3048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5.57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08  TO-BE: AX 개발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4572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영역 ①  업무지원 AX: 발주서 자동 정리·검증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1</a:t>
            </a:r>
            <a:br/>
            <a:r>
              <a:t>발주서 자동 파싱</a:t>
            </a:r>
            <a:br/>
            <a:r>
              <a:t>&amp; 규격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발주서 엑셀 업로드</a:t>
            </a:r>
            <a:br/>
            <a:r>
              <a:t>→ 품명/규격/수량/위치</a:t>
            </a:r>
            <a:br/>
            <a:r>
              <a:t>   자동 추출</a:t>
            </a:r>
            <a:br/>
            <a:r>
              <a:t>→ 동일 규격 그룹핑</a:t>
            </a:r>
            <a:br/>
            <a:r>
              <a:t>→ ERP 입력용 엑셀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2</a:t>
            </a:r>
            <a:br/>
            <a:r>
              <a:t>발주서 ↔ 작업의뢰서</a:t>
            </a:r>
            <a:br/>
            <a:r>
              <a:t>자동 비교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발주서 + 작업의뢰서</a:t>
            </a:r>
            <a:br/>
            <a:r>
              <a:t>→ 품명/규격/수량/비고</a:t>
            </a:r>
            <a:br/>
            <a:r>
              <a:t>   항목별 자동 대조</a:t>
            </a:r>
            <a:br/>
            <a:r>
              <a:t>→ 불일치 리포트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3</a:t>
            </a:r>
            <a:br/>
            <a:r>
              <a:t>ERP 입력 데이터</a:t>
            </a:r>
            <a:br/>
            <a:r>
              <a:t>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규격정리 결과</a:t>
            </a:r>
            <a:br/>
            <a:r>
              <a:t>→ ERP 엑셀 양식(16열)</a:t>
            </a:r>
            <a:br/>
            <a:r>
              <a:t>   자동 매핑</a:t>
            </a:r>
            <a:br/>
            <a:r>
              <a:t>→ 면적/두께 자동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영역 ②  생산 AX: 생산실적 자동 집계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4</a:t>
            </a:r>
            <a:br/>
            <a:r>
              <a:t>복층 생산실적</a:t>
            </a:r>
            <a:br/>
            <a:r>
              <a:t>자동 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작업의뢰서 로딩</a:t>
            </a:r>
            <a:br/>
            <a:r>
              <a:t>→ 생산완료 입력 UI</a:t>
            </a:r>
            <a:br/>
            <a:r>
              <a:t>  (전량/부분/분할)</a:t>
            </a:r>
            <a:br/>
            <a:r>
              <a:t>→ 복층생산일지</a:t>
            </a:r>
            <a:br/>
            <a:r>
              <a:t>   자동 작성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5</a:t>
            </a:r>
            <a:br/>
            <a:r>
              <a:t>재단 실적</a:t>
            </a:r>
            <a:br/>
            <a:r>
              <a:t>(절단일보) 자동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작업의뢰서 로딩</a:t>
            </a:r>
            <a:br/>
            <a:r>
              <a:t>→ 재단 수량 입력</a:t>
            </a:r>
            <a:br/>
            <a:r>
              <a:t>→ 사용 원판 입력</a:t>
            </a:r>
            <a:br/>
            <a:r>
              <a:t>→ 절단일보</a:t>
            </a:r>
            <a:br/>
            <a:r>
              <a:t>   자동 작성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737360"/>
            <a:ext cx="16459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기능 6</a:t>
            </a:r>
            <a:br/>
            <a:r>
              <a:t>주간 생산실적</a:t>
            </a:r>
            <a:br/>
            <a:r>
              <a:t>자동 집계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377440"/>
            <a:ext cx="1645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일간 생산 데이터</a:t>
            </a:r>
            <a:br/>
            <a:r>
              <a:t>→ 주차별 자동 집계</a:t>
            </a:r>
            <a:br/>
            <a:r>
              <a:t>→ KPI 계산</a:t>
            </a:r>
            <a:br/>
            <a:r>
              <a:t>  (생산조/M2/목표대비)</a:t>
            </a:r>
            <a:br/>
            <a:r>
              <a:t>→ 주간생산일지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맑은 고딕"/>
              </a:defRPr>
            </a:pPr>
            <a:r>
              <a:t>개발 접근 전략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57200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743200"/>
                <a:gridCol w="3962095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산출물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1단계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핵심 기능 우선 개발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(발주서 파싱 + 검증)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Python 기반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엑셀 자동화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가장 큰 Pain point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해결 우선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2단계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확장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생산실적 자동 집계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웹 대시보드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웹 기반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실적 조회/모니터링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MES 연동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검토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3단계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고도화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현장 입력 UI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+ AI 기반 이상탐지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태블릿/모바일 앱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바코드 스캔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전사 시스템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통합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  <a:latin typeface="맑은 고딕"/>
              </a:defRPr>
            </a:pPr>
            <a:r>
              <a:t>09  TO-BE: 기능별 상세 — 품명 변환 &amp; 위치 정보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품명 변환 테이블 (발주서 표기 → ERP/작업의뢰서 표기)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133295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발주서 표기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ERP/작업의뢰서 표기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두께 계산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유리 구성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5CL/0.76PVB/5CL+10ALC+6EMT178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26.76T 10.76투명접합+10A+6로이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5+0.76+5+10+6=26.76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접합유리+간봉+로이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6CL+12ALC+6CL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24T 6CL+12A+6CL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6+12+6=24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투명+간봉+투명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6CL+12ALC+6EMT178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24T 6CL+12A+6로이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6+12+6=24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투명+간봉+로이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5GN+12AR+5LE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22T 5newGN+12Ar.+5로이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5+12+5=22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그린+아르곤+로이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5CL+12AR+5LE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22T 5CL+12Ar.+5로이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5+12+5=22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투명+아르곤+로이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그린 로이복층유리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22T 5newGN+12Ar.+5로이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5+12+5=22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한글 표기 → 코드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22mm 그린 로이복층 (아르곤)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22T 5newGN+12Ar.+5DURA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22T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정석개발 양식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위치 정보 구조 분석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2920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2743200"/>
                <a:gridCol w="4602175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구성요소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 값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패턴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101동, 201동, 302동, 9동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{N}동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건물 동 번호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라인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1라인, 2라인, 1~3라인, 1,2라인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{N}라인 또는 {N~M}라인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세대 라인 (호수 계열)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층 범위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(1~6층), (2~6층), (16F-18F)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({N~M}층) 또는 [{NF-MF}]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해당 층 범위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창 위치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거실, 침실1~3, 발코니1, 주방/식당,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다용도, 드레스룸, 알파룸, 세탁실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고정 텍스트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건물 내 위치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타입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59A, 59B, 55F, 84AL, 113C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{면적}{타입코드}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세대 평형/타입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5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창 구분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외창픽스, 외창밴트(SL), 내창(LS),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단창픽스, 단창밴트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고정 텍스트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창호 종류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맑은 고딕"/>
              </a:defRPr>
            </a:pPr>
            <a:r>
              <a:t>10  확인 필요 사항 / 논의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6576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업무지원 (발주서) 관련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457200" cy="27432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발주서 양식 통일 가능한가?</a:t>
            </a:r>
            <a:br/>
            <a:r>
              <a:t>→ 6종 이상의 완전히 다른 양식, 최소 필수 컬럼이라도 통일 가능?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457200" cy="27432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발주서 수취 경로는?</a:t>
            </a:r>
            <a:br/>
            <a:r>
              <a:t>→ 이메일? 카카오톡? 공유폴더? 형태(엑셀/PDF/이미지)?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457200" cy="27432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규격 그룹핑 규칙에 예외가 있는가?</a:t>
            </a:r>
            <a:br/>
            <a:r>
              <a:t>→ 납기일/시공 순서 등으로 묶지 않는 경우?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457200" cy="27432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ERP(바이투) API 연동 가능한가?</a:t>
            </a:r>
            <a:br/>
            <a:r>
              <a:t>→ 현재는 엑셀 import만, API 존재 여부?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457200" cy="27432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품명 변환 규칙이 정리되어 있는가?</a:t>
            </a:r>
            <a:br/>
            <a:r>
              <a:t>→ 발주서 표기 → ERP 표기 매핑 테이블?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48640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생산실적 관련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4572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MES에서 생산 완료 데이터 추출 가능한가?</a:t>
            </a:r>
            <a:br/>
            <a:r>
              <a:t>→ 바코드 스캔 이력, 생산 수량 데이터 export?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4572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분할 생산 빈도는?</a:t>
            </a:r>
            <a:br/>
            <a:r>
              <a:t>→ 하나의 의뢰서를 여러 날에 걸쳐 생산하는 비율?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4572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재단 ↔ 복층 연결 관계는?</a:t>
            </a:r>
            <a:br/>
            <a:r>
              <a:t>→ 동일 작업의뢰서? 별도 문서?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4572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29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원판 규격/종류 마스터 목록이 있는가?</a:t>
            </a:r>
            <a:br/>
            <a:r>
              <a:t>→ 표준 원판 사이즈 전체 리스트?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69080"/>
            <a:ext cx="45720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23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두 영역 중 우선순위는?</a:t>
            </a:r>
            <a:br/>
            <a:r>
              <a:t>→ 업무지원 vs 생산실적, 어느 쪽 Pain point가 더 큰지?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추가 데이터 요청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5394960"/>
          <a:ext cx="1127729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419295"/>
              </a:tblGrid>
              <a:tr h="213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요청 항목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상태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품명 코드 마스터 목록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품명 자동 변환 규칙 구축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일부 매핑 확인, 전체 목록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거래처/현장 마스터 목록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ERP 데이터 매핑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업체현장명 시트에 167개 확인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ERP(바이투) import 양식 사양서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ERP 연동 개발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16열 양식 확인, 상세 규칙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MES 데이터 export 샘플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생산실적 자동화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라벨 구조 확인, 이력 데이터 필요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원판 규격/종류 마스터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절단일보 자동화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4개 규격 확인, 전체 목록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286000"/>
            <a:ext cx="8534095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66666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8534095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