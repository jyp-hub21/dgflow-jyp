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94" r:id="rId2"/>
    <p:sldId id="387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876" y="102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A6803-8AB6-4C72-97EE-4ED3DC39520B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8B65B-2185-49BF-9686-DC9C06449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19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8B65B-2185-49BF-9686-DC9C0644981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9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AFB43B-0F3B-9C4B-B9C3-FB48FFC5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ADC358-3325-AB4E-842F-39FA04899C7F}"/>
              </a:ext>
            </a:extLst>
          </p:cNvPr>
          <p:cNvSpPr txBox="1"/>
          <p:nvPr/>
        </p:nvSpPr>
        <p:spPr>
          <a:xfrm>
            <a:off x="7277623" y="2191935"/>
            <a:ext cx="86227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2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ＡＸ</a:t>
            </a:r>
            <a:endParaRPr lang="en-US" altLang="ko-KR" sz="72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72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과제논의</a:t>
            </a:r>
            <a:endParaRPr lang="ko-Kore-KR" altLang="en-US" sz="72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A18451-4EF1-D34B-BF81-06B8CA68A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545" y="984774"/>
            <a:ext cx="4539679" cy="91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1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419DA-7D8B-96C5-BC0A-4ECD7FF4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E9E6A-B443-22C1-7BC6-629B623F7169}"/>
              </a:ext>
            </a:extLst>
          </p:cNvPr>
          <p:cNvSpPr txBox="1"/>
          <p:nvPr/>
        </p:nvSpPr>
        <p:spPr>
          <a:xfrm>
            <a:off x="660400" y="609600"/>
            <a:ext cx="151638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4800" dirty="0"/>
          </a:p>
          <a:p>
            <a:r>
              <a:rPr lang="en-US" altLang="ko-KR" sz="4800" dirty="0"/>
              <a:t>1. </a:t>
            </a:r>
            <a:r>
              <a:rPr lang="ko-KR" altLang="en-US" sz="4800" dirty="0"/>
              <a:t>공사관리</a:t>
            </a:r>
            <a:r>
              <a:rPr lang="en-US" altLang="ko-KR" sz="4800" dirty="0"/>
              <a:t>: </a:t>
            </a:r>
            <a:r>
              <a:rPr lang="ko-KR" altLang="en-US" sz="4800" dirty="0"/>
              <a:t>발주서 작성 </a:t>
            </a:r>
            <a:r>
              <a:rPr lang="en-US" altLang="ko-KR" sz="4800" dirty="0"/>
              <a:t>(</a:t>
            </a:r>
            <a:r>
              <a:rPr lang="ko-KR" altLang="en-US" sz="4800" dirty="0"/>
              <a:t>실측</a:t>
            </a:r>
            <a:r>
              <a:rPr lang="en-US" altLang="ko-KR" sz="4800" dirty="0"/>
              <a:t> / </a:t>
            </a:r>
            <a:r>
              <a:rPr lang="ko-KR" altLang="en-US" sz="4800" dirty="0"/>
              <a:t>도면발주 등</a:t>
            </a:r>
            <a:r>
              <a:rPr lang="en-US" altLang="ko-KR" sz="4800" dirty="0"/>
              <a:t>)</a:t>
            </a:r>
          </a:p>
          <a:p>
            <a:endParaRPr lang="en-US" altLang="ko-KR" sz="4800" dirty="0"/>
          </a:p>
          <a:p>
            <a:r>
              <a:rPr lang="en-US" altLang="ko-KR" sz="4800" dirty="0"/>
              <a:t>2. </a:t>
            </a:r>
            <a:r>
              <a:rPr lang="ko-KR" altLang="en-US" sz="4800" dirty="0"/>
              <a:t>업무지원</a:t>
            </a:r>
            <a:r>
              <a:rPr lang="en-US" altLang="ko-KR" sz="4800" dirty="0"/>
              <a:t>: </a:t>
            </a:r>
            <a:r>
              <a:rPr lang="ko-KR" altLang="en-US" sz="4800" dirty="0"/>
              <a:t>발주서 정리</a:t>
            </a:r>
            <a:r>
              <a:rPr lang="en-US" altLang="ko-KR" sz="4800" dirty="0"/>
              <a:t>, </a:t>
            </a:r>
            <a:r>
              <a:rPr lang="ko-KR" altLang="en-US" sz="4800" dirty="0"/>
              <a:t>검토</a:t>
            </a:r>
            <a:r>
              <a:rPr lang="en-US" altLang="ko-KR" sz="4800" dirty="0"/>
              <a:t>, ERP </a:t>
            </a:r>
            <a:r>
              <a:rPr lang="ko-KR" altLang="en-US" sz="4800" dirty="0"/>
              <a:t>입력</a:t>
            </a:r>
            <a:r>
              <a:rPr lang="en-US" altLang="ko-KR" sz="4800" dirty="0"/>
              <a:t>, </a:t>
            </a:r>
            <a:r>
              <a:rPr lang="ko-KR" altLang="en-US" sz="4800" dirty="0"/>
              <a:t>생산지시</a:t>
            </a:r>
            <a:endParaRPr lang="en-US" altLang="ko-KR" sz="4800" dirty="0"/>
          </a:p>
          <a:p>
            <a:endParaRPr lang="en-US" altLang="ko-KR" sz="4800" dirty="0"/>
          </a:p>
          <a:p>
            <a:r>
              <a:rPr lang="en-US" altLang="ko-KR" sz="4800" dirty="0"/>
              <a:t>3. </a:t>
            </a:r>
            <a:r>
              <a:rPr lang="ko-KR" altLang="en-US" sz="4800" dirty="0"/>
              <a:t>생산관리</a:t>
            </a:r>
            <a:r>
              <a:rPr lang="en-US" altLang="ko-KR" sz="4800" dirty="0"/>
              <a:t>: </a:t>
            </a:r>
            <a:r>
              <a:rPr lang="ko-KR" altLang="en-US" sz="4800" dirty="0"/>
              <a:t>작업계획서 정리</a:t>
            </a:r>
            <a:r>
              <a:rPr lang="en-US" altLang="ko-KR" sz="4800" dirty="0"/>
              <a:t>, </a:t>
            </a:r>
            <a:r>
              <a:rPr lang="ko-KR" altLang="en-US" sz="4800" dirty="0"/>
              <a:t>생산계획 수립 및 지시</a:t>
            </a:r>
            <a:endParaRPr lang="en-US" altLang="ko-KR" sz="4800" dirty="0"/>
          </a:p>
          <a:p>
            <a:endParaRPr lang="en-US" altLang="ko-KR" sz="4800" dirty="0"/>
          </a:p>
          <a:p>
            <a:r>
              <a:rPr lang="en-US" altLang="ko-KR" sz="4800" dirty="0"/>
              <a:t>4. </a:t>
            </a:r>
            <a:r>
              <a:rPr lang="ko-KR" altLang="en-US" sz="4800" dirty="0"/>
              <a:t>생산</a:t>
            </a:r>
            <a:r>
              <a:rPr lang="en-US" altLang="ko-KR" sz="4800" dirty="0"/>
              <a:t>: </a:t>
            </a:r>
            <a:r>
              <a:rPr lang="ko-KR" altLang="en-US" sz="4800" dirty="0"/>
              <a:t>생산실적에 따른 재단실적</a:t>
            </a:r>
            <a:r>
              <a:rPr lang="en-US" altLang="ko-KR" sz="4800" dirty="0"/>
              <a:t>, </a:t>
            </a:r>
            <a:r>
              <a:rPr lang="ko-KR" altLang="en-US" sz="4800" dirty="0" err="1"/>
              <a:t>복층실적</a:t>
            </a:r>
            <a:r>
              <a:rPr lang="ko-KR" altLang="en-US" sz="4800" dirty="0"/>
              <a:t> </a:t>
            </a:r>
            <a:r>
              <a:rPr lang="en-US" altLang="ko-KR" sz="4800" dirty="0"/>
              <a:t>(</a:t>
            </a:r>
            <a:r>
              <a:rPr lang="ko-KR" altLang="en-US" sz="4800" dirty="0"/>
              <a:t>일간</a:t>
            </a:r>
            <a:r>
              <a:rPr lang="en-US" altLang="ko-KR" sz="4800" dirty="0"/>
              <a:t>, </a:t>
            </a:r>
            <a:r>
              <a:rPr lang="ko-KR" altLang="en-US" sz="4800" dirty="0"/>
              <a:t>주간</a:t>
            </a:r>
            <a:r>
              <a:rPr lang="en-US" altLang="ko-KR" sz="4800" dirty="0"/>
              <a:t>) </a:t>
            </a:r>
          </a:p>
          <a:p>
            <a:endParaRPr lang="en-US" altLang="ko-KR" sz="4800" dirty="0"/>
          </a:p>
          <a:p>
            <a:r>
              <a:rPr lang="en-US" altLang="ko-KR" sz="4800" dirty="0"/>
              <a:t>5. </a:t>
            </a:r>
            <a:r>
              <a:rPr lang="ko-KR" altLang="en-US" sz="4800" dirty="0"/>
              <a:t>출고</a:t>
            </a:r>
            <a:r>
              <a:rPr lang="en-US" altLang="ko-KR" sz="4800" dirty="0"/>
              <a:t>: </a:t>
            </a:r>
            <a:r>
              <a:rPr lang="ko-KR" altLang="en-US" sz="4800" dirty="0"/>
              <a:t>출고 진행 및 실적관리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F3FB91E-5B7D-00DF-02D3-9487FC11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AACCB-38A8-8402-E65A-4C0F78AB313B}"/>
              </a:ext>
            </a:extLst>
          </p:cNvPr>
          <p:cNvSpPr txBox="1"/>
          <p:nvPr/>
        </p:nvSpPr>
        <p:spPr>
          <a:xfrm>
            <a:off x="248345" y="-5502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B3203F-CE30-894A-DB6D-45D87E321EE8}"/>
              </a:ext>
            </a:extLst>
          </p:cNvPr>
          <p:cNvSpPr/>
          <p:nvPr/>
        </p:nvSpPr>
        <p:spPr>
          <a:xfrm>
            <a:off x="660400" y="2743200"/>
            <a:ext cx="13639800" cy="1066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11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3A31-7F56-3AD1-C9B0-527EF10C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8352D1-8B74-9D9F-C127-62CBF7F9510C}"/>
              </a:ext>
            </a:extLst>
          </p:cNvPr>
          <p:cNvSpPr txBox="1"/>
          <p:nvPr/>
        </p:nvSpPr>
        <p:spPr>
          <a:xfrm>
            <a:off x="261045" y="762000"/>
            <a:ext cx="84577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1. </a:t>
            </a:r>
            <a:r>
              <a:rPr lang="ko-KR" altLang="en-US" sz="4800" dirty="0"/>
              <a:t>담당자로부터 발주요청 수취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A6AE76-BC5D-D50B-E892-25FFFDBC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AC5881-89A8-31A4-D9B2-307219BD41DF}"/>
              </a:ext>
            </a:extLst>
          </p:cNvPr>
          <p:cNvSpPr txBox="1"/>
          <p:nvPr/>
        </p:nvSpPr>
        <p:spPr>
          <a:xfrm>
            <a:off x="248345" y="-5502"/>
            <a:ext cx="11833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2.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업무지원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발주서 검토 및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ERP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3D8569-B3F5-A1D1-32CE-9697EE355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84" y="1592997"/>
            <a:ext cx="11372850" cy="735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1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5C36-D08A-F4A0-EFCF-1478663F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30E9EB-ED20-CDE6-B144-8786E37D4FC6}"/>
              </a:ext>
            </a:extLst>
          </p:cNvPr>
          <p:cNvSpPr txBox="1"/>
          <p:nvPr/>
        </p:nvSpPr>
        <p:spPr>
          <a:xfrm>
            <a:off x="261045" y="762000"/>
            <a:ext cx="6890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2. </a:t>
            </a:r>
            <a:r>
              <a:rPr lang="ko-KR" altLang="en-US" sz="4800" dirty="0"/>
              <a:t>관련 정보 검토 및 정리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303DCB8-D711-81E8-5B8F-3B06BBAC8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778AB7-AA72-A604-DE7D-E7FF292BB3FC}"/>
              </a:ext>
            </a:extLst>
          </p:cNvPr>
          <p:cNvSpPr txBox="1"/>
          <p:nvPr/>
        </p:nvSpPr>
        <p:spPr>
          <a:xfrm>
            <a:off x="248345" y="-5502"/>
            <a:ext cx="11833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2.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업무지원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발주서 검토 및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ERP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29BE9-810E-D590-D0D0-EA306CD86DE4}"/>
              </a:ext>
            </a:extLst>
          </p:cNvPr>
          <p:cNvSpPr txBox="1"/>
          <p:nvPr/>
        </p:nvSpPr>
        <p:spPr>
          <a:xfrm>
            <a:off x="6190588" y="1631097"/>
            <a:ext cx="97098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1) </a:t>
            </a:r>
            <a:r>
              <a:rPr lang="ko-KR" altLang="en-US" sz="2800" dirty="0"/>
              <a:t>발주서의 품목 규격, 수량을 정리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2)</a:t>
            </a:r>
            <a:r>
              <a:rPr lang="ko-KR" altLang="en-US" sz="2800" dirty="0"/>
              <a:t> 동일한 규격끼리 묶어 </a:t>
            </a:r>
            <a:r>
              <a:rPr lang="en-US" altLang="ko-KR" sz="2800" dirty="0"/>
              <a:t>ERP</a:t>
            </a:r>
            <a:r>
              <a:rPr lang="ko-KR" altLang="en-US" sz="2800" dirty="0"/>
              <a:t> 에 입력할 엑셀 정리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FAEE3D-B8D4-E369-D711-355FB880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85" y="1605697"/>
            <a:ext cx="4634831" cy="6996529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B76EE94-C29E-BAF3-53AD-6F87A1FD668A}"/>
              </a:ext>
            </a:extLst>
          </p:cNvPr>
          <p:cNvSpPr/>
          <p:nvPr/>
        </p:nvSpPr>
        <p:spPr>
          <a:xfrm>
            <a:off x="6075045" y="4953000"/>
            <a:ext cx="1367155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5E73C4-7528-B009-5EC5-23A5A50C2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761" y="4129471"/>
            <a:ext cx="55816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0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22F4-149F-8596-505E-29D5600C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FC3B31-5056-D9A7-223F-03040644C0E6}"/>
              </a:ext>
            </a:extLst>
          </p:cNvPr>
          <p:cNvSpPr txBox="1"/>
          <p:nvPr/>
        </p:nvSpPr>
        <p:spPr>
          <a:xfrm>
            <a:off x="261045" y="762000"/>
            <a:ext cx="5474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3. ERP (</a:t>
            </a:r>
            <a:r>
              <a:rPr lang="ko-KR" altLang="en-US" sz="4800" dirty="0" err="1"/>
              <a:t>바이투</a:t>
            </a:r>
            <a:r>
              <a:rPr lang="en-US" altLang="ko-KR" sz="4800" dirty="0"/>
              <a:t>) </a:t>
            </a:r>
            <a:r>
              <a:rPr lang="ko-KR" altLang="en-US" sz="4800" dirty="0"/>
              <a:t>입력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9DEE03B-9554-FACA-2B8A-76D53969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938B68-9182-4879-D883-5B5088807552}"/>
              </a:ext>
            </a:extLst>
          </p:cNvPr>
          <p:cNvSpPr txBox="1"/>
          <p:nvPr/>
        </p:nvSpPr>
        <p:spPr>
          <a:xfrm>
            <a:off x="248345" y="-5502"/>
            <a:ext cx="11833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2.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업무지원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발주서 검토 및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ERP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0EF8B-1C56-246C-2C2E-E8F8DD013425}"/>
              </a:ext>
            </a:extLst>
          </p:cNvPr>
          <p:cNvSpPr txBox="1"/>
          <p:nvPr/>
        </p:nvSpPr>
        <p:spPr>
          <a:xfrm>
            <a:off x="6692900" y="1081577"/>
            <a:ext cx="875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정리한 엑셀을 </a:t>
            </a:r>
            <a:r>
              <a:rPr lang="en-US" altLang="ko-KR" sz="2400" dirty="0"/>
              <a:t>ERP </a:t>
            </a:r>
            <a:r>
              <a:rPr lang="ko-KR" altLang="en-US" sz="2400" dirty="0"/>
              <a:t>로 불러들여서 입력하고 작업의뢰서를 작성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34B72D-AF0D-5B6B-7F8B-CF414482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" y="2151074"/>
            <a:ext cx="5581650" cy="2324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BB4308-3A90-5946-D812-5AE49BF03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151074"/>
            <a:ext cx="6897286" cy="6046724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2DECCEA-2418-AA05-9A77-14E601588507}"/>
              </a:ext>
            </a:extLst>
          </p:cNvPr>
          <p:cNvSpPr/>
          <p:nvPr/>
        </p:nvSpPr>
        <p:spPr>
          <a:xfrm>
            <a:off x="6417945" y="3249624"/>
            <a:ext cx="1367155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26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6078-8306-46D1-B611-1BC06F36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BFCC82-6AE0-EEA3-C6C2-8979C18E4E71}"/>
              </a:ext>
            </a:extLst>
          </p:cNvPr>
          <p:cNvSpPr txBox="1"/>
          <p:nvPr/>
        </p:nvSpPr>
        <p:spPr>
          <a:xfrm>
            <a:off x="261045" y="762000"/>
            <a:ext cx="9967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4. </a:t>
            </a:r>
            <a:r>
              <a:rPr lang="ko-KR" altLang="en-US" sz="4800" dirty="0"/>
              <a:t>작업의뢰서 완성 및 공장으로 전달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90B956-B133-F940-CA4C-98248032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1C2D73-D0A2-5C52-D7C0-EBAF4ACAC2CF}"/>
              </a:ext>
            </a:extLst>
          </p:cNvPr>
          <p:cNvSpPr txBox="1"/>
          <p:nvPr/>
        </p:nvSpPr>
        <p:spPr>
          <a:xfrm>
            <a:off x="248345" y="-5502"/>
            <a:ext cx="11833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2.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업무지원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발주서 검토 및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ERP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F593BE-BA6F-BCA9-AE1E-09427CD14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771362"/>
            <a:ext cx="8991600" cy="6840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630919-1BB0-7026-39EE-0883EE906169}"/>
              </a:ext>
            </a:extLst>
          </p:cNvPr>
          <p:cNvSpPr txBox="1"/>
          <p:nvPr/>
        </p:nvSpPr>
        <p:spPr>
          <a:xfrm>
            <a:off x="9842500" y="2286000"/>
            <a:ext cx="5524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발주서와 완성된 작업의뢰서의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품목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규격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수량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비고란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이 일치하는지 비교하여 검토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=&gt; </a:t>
            </a:r>
            <a:r>
              <a:rPr lang="ko-KR" altLang="en-US" sz="2400" dirty="0"/>
              <a:t>문제 없을 시 생산지원팀으로 전달</a:t>
            </a:r>
          </a:p>
        </p:txBody>
      </p:sp>
    </p:spTree>
    <p:extLst>
      <p:ext uri="{BB962C8B-B14F-4D97-AF65-F5344CB8AC3E}">
        <p14:creationId xmlns:p14="http://schemas.microsoft.com/office/powerpoint/2010/main" val="25537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B065-0F87-7FEE-DB25-6D9D04A6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524043-1AA5-B91F-0483-B0DF98C8D022}"/>
              </a:ext>
            </a:extLst>
          </p:cNvPr>
          <p:cNvSpPr txBox="1"/>
          <p:nvPr/>
        </p:nvSpPr>
        <p:spPr>
          <a:xfrm>
            <a:off x="261045" y="762000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/>
              <a:t>개선희망사항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FA7950-7A87-3966-C34C-2FE6F244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8716F-BCA0-6141-FA94-53179A3ED2F4}"/>
              </a:ext>
            </a:extLst>
          </p:cNvPr>
          <p:cNvSpPr txBox="1"/>
          <p:nvPr/>
        </p:nvSpPr>
        <p:spPr>
          <a:xfrm>
            <a:off x="248345" y="-5502"/>
            <a:ext cx="11833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2.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업무지원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발주서 검토 및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ERP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A1F7D-22B1-11A8-522D-AE49B32504C9}"/>
              </a:ext>
            </a:extLst>
          </p:cNvPr>
          <p:cNvSpPr txBox="1"/>
          <p:nvPr/>
        </p:nvSpPr>
        <p:spPr>
          <a:xfrm>
            <a:off x="8618100" y="1413915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u="sng" dirty="0"/>
              <a:t>최초의 발주요청서와 완성된 작업의뢰서의 내용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FA7CC0-F538-D494-4481-4D2CD9D13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45" y="2331790"/>
            <a:ext cx="6127056" cy="39615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9F34AB-9F34-4690-4EF3-B4A5DC282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034" y="4262417"/>
            <a:ext cx="6096000" cy="4637923"/>
          </a:xfrm>
          <a:prstGeom prst="rect">
            <a:avLst/>
          </a:prstGeom>
        </p:spPr>
      </p:pic>
      <p:sp>
        <p:nvSpPr>
          <p:cNvPr id="7" name="화살표: 굽음 6">
            <a:extLst>
              <a:ext uri="{FF2B5EF4-FFF2-40B4-BE49-F238E27FC236}">
                <a16:creationId xmlns:a16="http://schemas.microsoft.com/office/drawing/2014/main" id="{98C881D6-608D-13E9-763F-D053FF74534A}"/>
              </a:ext>
            </a:extLst>
          </p:cNvPr>
          <p:cNvSpPr/>
          <p:nvPr/>
        </p:nvSpPr>
        <p:spPr>
          <a:xfrm rot="5400000">
            <a:off x="6680200" y="3124200"/>
            <a:ext cx="762000" cy="6858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CAF61-1A0D-7176-E587-8116BD53DC24}"/>
              </a:ext>
            </a:extLst>
          </p:cNvPr>
          <p:cNvSpPr txBox="1"/>
          <p:nvPr/>
        </p:nvSpPr>
        <p:spPr>
          <a:xfrm>
            <a:off x="210245" y="187012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최초의 발주요청서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8FB388-AF3C-48CB-1FBD-0DB008E8AFF6}"/>
              </a:ext>
            </a:extLst>
          </p:cNvPr>
          <p:cNvSpPr txBox="1"/>
          <p:nvPr/>
        </p:nvSpPr>
        <p:spPr>
          <a:xfrm>
            <a:off x="8812935" y="4174367"/>
            <a:ext cx="3325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완성된 작업의뢰서</a:t>
            </a:r>
          </a:p>
        </p:txBody>
      </p:sp>
    </p:spTree>
    <p:extLst>
      <p:ext uri="{BB962C8B-B14F-4D97-AF65-F5344CB8AC3E}">
        <p14:creationId xmlns:p14="http://schemas.microsoft.com/office/powerpoint/2010/main" val="265290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AAB9-A26D-DFFC-B99D-FC9A5BE2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C360B6-B28E-9A15-FB9E-9E3AE8321DBE}"/>
              </a:ext>
            </a:extLst>
          </p:cNvPr>
          <p:cNvSpPr txBox="1"/>
          <p:nvPr/>
        </p:nvSpPr>
        <p:spPr>
          <a:xfrm>
            <a:off x="660400" y="609600"/>
            <a:ext cx="151638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4800" dirty="0"/>
          </a:p>
          <a:p>
            <a:r>
              <a:rPr lang="en-US" altLang="ko-KR" sz="4800" dirty="0"/>
              <a:t>1. </a:t>
            </a:r>
            <a:r>
              <a:rPr lang="ko-KR" altLang="en-US" sz="4800" dirty="0"/>
              <a:t>공사관리</a:t>
            </a:r>
            <a:r>
              <a:rPr lang="en-US" altLang="ko-KR" sz="4800" dirty="0"/>
              <a:t>: </a:t>
            </a:r>
            <a:r>
              <a:rPr lang="ko-KR" altLang="en-US" sz="4800" dirty="0"/>
              <a:t>발주서 작성 </a:t>
            </a:r>
            <a:r>
              <a:rPr lang="en-US" altLang="ko-KR" sz="4800" dirty="0"/>
              <a:t>(</a:t>
            </a:r>
            <a:r>
              <a:rPr lang="ko-KR" altLang="en-US" sz="4800" dirty="0"/>
              <a:t>실측</a:t>
            </a:r>
            <a:r>
              <a:rPr lang="en-US" altLang="ko-KR" sz="4800" dirty="0"/>
              <a:t> / </a:t>
            </a:r>
            <a:r>
              <a:rPr lang="ko-KR" altLang="en-US" sz="4800" dirty="0"/>
              <a:t>도면발주 등</a:t>
            </a:r>
            <a:r>
              <a:rPr lang="en-US" altLang="ko-KR" sz="4800" dirty="0"/>
              <a:t>)</a:t>
            </a:r>
          </a:p>
          <a:p>
            <a:endParaRPr lang="en-US" altLang="ko-KR" sz="4800" dirty="0"/>
          </a:p>
          <a:p>
            <a:r>
              <a:rPr lang="en-US" altLang="ko-KR" sz="4800" dirty="0"/>
              <a:t>2. </a:t>
            </a:r>
            <a:r>
              <a:rPr lang="ko-KR" altLang="en-US" sz="4800" dirty="0"/>
              <a:t>업무지원</a:t>
            </a:r>
            <a:r>
              <a:rPr lang="en-US" altLang="ko-KR" sz="4800" dirty="0"/>
              <a:t>: </a:t>
            </a:r>
            <a:r>
              <a:rPr lang="ko-KR" altLang="en-US" sz="4800" dirty="0"/>
              <a:t>발주서 정리</a:t>
            </a:r>
            <a:r>
              <a:rPr lang="en-US" altLang="ko-KR" sz="4800" dirty="0"/>
              <a:t>, </a:t>
            </a:r>
            <a:r>
              <a:rPr lang="ko-KR" altLang="en-US" sz="4800" dirty="0"/>
              <a:t>검토</a:t>
            </a:r>
            <a:r>
              <a:rPr lang="en-US" altLang="ko-KR" sz="4800" dirty="0"/>
              <a:t>, ERP </a:t>
            </a:r>
            <a:r>
              <a:rPr lang="ko-KR" altLang="en-US" sz="4800" dirty="0"/>
              <a:t>입력</a:t>
            </a:r>
            <a:r>
              <a:rPr lang="en-US" altLang="ko-KR" sz="4800" dirty="0"/>
              <a:t>, </a:t>
            </a:r>
            <a:r>
              <a:rPr lang="ko-KR" altLang="en-US" sz="4800" dirty="0"/>
              <a:t>생산지시</a:t>
            </a:r>
            <a:endParaRPr lang="en-US" altLang="ko-KR" sz="4800" dirty="0"/>
          </a:p>
          <a:p>
            <a:endParaRPr lang="en-US" altLang="ko-KR" sz="4800" dirty="0"/>
          </a:p>
          <a:p>
            <a:r>
              <a:rPr lang="en-US" altLang="ko-KR" sz="4800" dirty="0"/>
              <a:t>3. </a:t>
            </a:r>
            <a:r>
              <a:rPr lang="ko-KR" altLang="en-US" sz="4800" dirty="0"/>
              <a:t>생산관리</a:t>
            </a:r>
            <a:r>
              <a:rPr lang="en-US" altLang="ko-KR" sz="4800" dirty="0"/>
              <a:t>: </a:t>
            </a:r>
            <a:r>
              <a:rPr lang="ko-KR" altLang="en-US" sz="4800" dirty="0"/>
              <a:t>작업계획서 정리</a:t>
            </a:r>
            <a:r>
              <a:rPr lang="en-US" altLang="ko-KR" sz="4800" dirty="0"/>
              <a:t>, </a:t>
            </a:r>
            <a:r>
              <a:rPr lang="ko-KR" altLang="en-US" sz="4800" dirty="0"/>
              <a:t>생산계획 수립 및 지시</a:t>
            </a:r>
            <a:endParaRPr lang="en-US" altLang="ko-KR" sz="4800" dirty="0"/>
          </a:p>
          <a:p>
            <a:endParaRPr lang="en-US" altLang="ko-KR" sz="4800" dirty="0"/>
          </a:p>
          <a:p>
            <a:r>
              <a:rPr lang="en-US" altLang="ko-KR" sz="4800" dirty="0"/>
              <a:t>4. </a:t>
            </a:r>
            <a:r>
              <a:rPr lang="ko-KR" altLang="en-US" sz="4800" dirty="0"/>
              <a:t>생산</a:t>
            </a:r>
            <a:r>
              <a:rPr lang="en-US" altLang="ko-KR" sz="4800" dirty="0"/>
              <a:t>: </a:t>
            </a:r>
            <a:r>
              <a:rPr lang="ko-KR" altLang="en-US" sz="4800" dirty="0"/>
              <a:t>생산실적에 따른 재단실적</a:t>
            </a:r>
            <a:r>
              <a:rPr lang="en-US" altLang="ko-KR" sz="4800" dirty="0"/>
              <a:t>, </a:t>
            </a:r>
            <a:r>
              <a:rPr lang="ko-KR" altLang="en-US" sz="4800" dirty="0" err="1"/>
              <a:t>복층실적</a:t>
            </a:r>
            <a:r>
              <a:rPr lang="ko-KR" altLang="en-US" sz="4800" dirty="0"/>
              <a:t> </a:t>
            </a:r>
            <a:r>
              <a:rPr lang="en-US" altLang="ko-KR" sz="4800" dirty="0"/>
              <a:t>(</a:t>
            </a:r>
            <a:r>
              <a:rPr lang="ko-KR" altLang="en-US" sz="4800" dirty="0"/>
              <a:t>일간</a:t>
            </a:r>
            <a:r>
              <a:rPr lang="en-US" altLang="ko-KR" sz="4800" dirty="0"/>
              <a:t>, </a:t>
            </a:r>
            <a:r>
              <a:rPr lang="ko-KR" altLang="en-US" sz="4800" dirty="0"/>
              <a:t>주간</a:t>
            </a:r>
            <a:r>
              <a:rPr lang="en-US" altLang="ko-KR" sz="4800" dirty="0"/>
              <a:t>) </a:t>
            </a:r>
          </a:p>
          <a:p>
            <a:endParaRPr lang="en-US" altLang="ko-KR" sz="4800" dirty="0"/>
          </a:p>
          <a:p>
            <a:r>
              <a:rPr lang="en-US" altLang="ko-KR" sz="4800" dirty="0"/>
              <a:t>5. </a:t>
            </a:r>
            <a:r>
              <a:rPr lang="ko-KR" altLang="en-US" sz="4800" dirty="0"/>
              <a:t>출고</a:t>
            </a:r>
            <a:r>
              <a:rPr lang="en-US" altLang="ko-KR" sz="4800" dirty="0"/>
              <a:t>: </a:t>
            </a:r>
            <a:r>
              <a:rPr lang="ko-KR" altLang="en-US" sz="4800" dirty="0"/>
              <a:t>출고 진행 및 실적관리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5FB994B-29E8-279C-46C0-664DC25C8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5249C0-8F90-B6C8-0737-0D5B6C86C973}"/>
              </a:ext>
            </a:extLst>
          </p:cNvPr>
          <p:cNvSpPr txBox="1"/>
          <p:nvPr/>
        </p:nvSpPr>
        <p:spPr>
          <a:xfrm>
            <a:off x="248345" y="-5502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92EA28-6DC5-2BF9-47F3-46DB77D60DB4}"/>
              </a:ext>
            </a:extLst>
          </p:cNvPr>
          <p:cNvSpPr/>
          <p:nvPr/>
        </p:nvSpPr>
        <p:spPr>
          <a:xfrm>
            <a:off x="660400" y="5638800"/>
            <a:ext cx="15240000" cy="1066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6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0062-1A11-EE11-FE70-A7FA7559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C8319-BC99-B3A8-918A-DEA7D8E8D11F}"/>
              </a:ext>
            </a:extLst>
          </p:cNvPr>
          <p:cNvSpPr txBox="1"/>
          <p:nvPr/>
        </p:nvSpPr>
        <p:spPr>
          <a:xfrm>
            <a:off x="261045" y="762000"/>
            <a:ext cx="11865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1-1.</a:t>
            </a:r>
            <a:r>
              <a:rPr lang="ko-KR" altLang="en-US" sz="4800" dirty="0"/>
              <a:t> </a:t>
            </a:r>
            <a:r>
              <a:rPr lang="ko-KR" altLang="en-US" sz="4800" dirty="0" err="1"/>
              <a:t>복층</a:t>
            </a:r>
            <a:r>
              <a:rPr lang="en-US" altLang="ko-KR" sz="4800" dirty="0"/>
              <a:t>: </a:t>
            </a:r>
            <a:r>
              <a:rPr lang="ko-KR" altLang="en-US" sz="4800" dirty="0"/>
              <a:t>생산완료 수량 체크된 작업의뢰서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AAEFD4-C0D3-DBF5-E638-347AE4527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DD1DE-62A8-288E-E642-A1B59CF205BF}"/>
              </a:ext>
            </a:extLst>
          </p:cNvPr>
          <p:cNvSpPr txBox="1"/>
          <p:nvPr/>
        </p:nvSpPr>
        <p:spPr>
          <a:xfrm>
            <a:off x="248345" y="-5502"/>
            <a:ext cx="954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4.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생산실적 집계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D91209-5C9E-DA92-BD3E-72A1D8727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592997"/>
            <a:ext cx="5372100" cy="7162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68EF6-7E79-D339-1379-523576F4B618}"/>
              </a:ext>
            </a:extLst>
          </p:cNvPr>
          <p:cNvSpPr txBox="1"/>
          <p:nvPr/>
        </p:nvSpPr>
        <p:spPr>
          <a:xfrm>
            <a:off x="7289800" y="2057400"/>
            <a:ext cx="731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/>
              <a:t>빨간색 동그라미 </a:t>
            </a:r>
            <a:r>
              <a:rPr lang="en-US" altLang="ko-KR" sz="2400" dirty="0"/>
              <a:t>-&gt; </a:t>
            </a:r>
            <a:r>
              <a:rPr lang="ko-KR" altLang="en-US" sz="2400" dirty="0"/>
              <a:t>전량 생산 완료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수기 숫자 </a:t>
            </a:r>
            <a:r>
              <a:rPr lang="en-US" altLang="ko-KR" sz="2400" dirty="0"/>
              <a:t>-&gt; </a:t>
            </a:r>
            <a:r>
              <a:rPr lang="ko-KR" altLang="en-US" sz="2400" dirty="0"/>
              <a:t>해당 수량만 생산 완료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검정색 동그라미 </a:t>
            </a:r>
            <a:r>
              <a:rPr lang="en-US" altLang="ko-KR" sz="2400" dirty="0"/>
              <a:t>-&gt; </a:t>
            </a:r>
            <a:r>
              <a:rPr lang="ko-KR" altLang="en-US" sz="2400" dirty="0"/>
              <a:t>이전에 생산된 수량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D717EE-B71B-F397-7324-ACAC4CBD3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00" y="4876800"/>
            <a:ext cx="2732718" cy="1581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D82C4C-2E65-580F-23E4-AA1A62EC297E}"/>
              </a:ext>
            </a:extLst>
          </p:cNvPr>
          <p:cNvSpPr txBox="1"/>
          <p:nvPr/>
        </p:nvSpPr>
        <p:spPr>
          <a:xfrm>
            <a:off x="7277100" y="662940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MES</a:t>
            </a:r>
            <a:r>
              <a:rPr lang="ko-KR" altLang="en-US" sz="2400" dirty="0"/>
              <a:t> 에서 출력된 라벨</a:t>
            </a:r>
            <a:endParaRPr lang="en-US" altLang="ko-KR" sz="2400" dirty="0"/>
          </a:p>
          <a:p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 err="1">
                <a:sym typeface="Wingdings" panose="05000000000000000000" pitchFamily="2" charset="2"/>
              </a:rPr>
              <a:t>시공팀</a:t>
            </a:r>
            <a:r>
              <a:rPr lang="ko-KR" altLang="en-US" sz="2400" dirty="0">
                <a:sym typeface="Wingdings" panose="05000000000000000000" pitchFamily="2" charset="2"/>
              </a:rPr>
              <a:t> 요청에 따라 처음과 마지막 장에만 라벨 붙여달라고 하는 경우들이 있음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981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C1D4-9C51-EF9A-4570-4D55EE11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B568A8-5FF5-7C84-2D41-64DE6DE35888}"/>
              </a:ext>
            </a:extLst>
          </p:cNvPr>
          <p:cNvSpPr txBox="1"/>
          <p:nvPr/>
        </p:nvSpPr>
        <p:spPr>
          <a:xfrm>
            <a:off x="261045" y="762000"/>
            <a:ext cx="14606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1-2.</a:t>
            </a:r>
            <a:r>
              <a:rPr lang="ko-KR" altLang="en-US" sz="4800" dirty="0"/>
              <a:t> </a:t>
            </a:r>
            <a:r>
              <a:rPr lang="ko-KR" altLang="en-US" sz="4800" dirty="0" err="1"/>
              <a:t>복층</a:t>
            </a:r>
            <a:r>
              <a:rPr lang="en-US" altLang="ko-KR" sz="4800" dirty="0"/>
              <a:t>: </a:t>
            </a:r>
            <a:r>
              <a:rPr lang="ko-KR" altLang="en-US" sz="4800" dirty="0"/>
              <a:t>작업의뢰서를 바탕으로 엑셀 일지 수기 작성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BD3BB04-638B-AA21-BAF5-6B6569A53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CB44D7-8D0E-8E0B-D644-1F78CE8038C5}"/>
              </a:ext>
            </a:extLst>
          </p:cNvPr>
          <p:cNvSpPr txBox="1"/>
          <p:nvPr/>
        </p:nvSpPr>
        <p:spPr>
          <a:xfrm>
            <a:off x="248345" y="-5502"/>
            <a:ext cx="954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4.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생산실적 집계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FE00ED-07C0-E218-22DA-651092E9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592997"/>
            <a:ext cx="7820025" cy="723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7F6BA-6331-BDEA-406D-24EFAEAF97BB}"/>
              </a:ext>
            </a:extLst>
          </p:cNvPr>
          <p:cNvSpPr txBox="1"/>
          <p:nvPr/>
        </p:nvSpPr>
        <p:spPr>
          <a:xfrm>
            <a:off x="8777919" y="2438400"/>
            <a:ext cx="74526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u="sng" dirty="0"/>
              <a:t>개선희망사항</a:t>
            </a:r>
            <a:endParaRPr lang="en-US" altLang="ko-KR" sz="4000" u="sng" dirty="0"/>
          </a:p>
          <a:p>
            <a:r>
              <a:rPr lang="en-US" altLang="ko-KR" sz="4000" dirty="0"/>
              <a:t>: </a:t>
            </a:r>
            <a:r>
              <a:rPr lang="ko-KR" altLang="en-US" sz="4000" dirty="0"/>
              <a:t>작업의뢰서 바탕으로 자동 정리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50916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C1AA-457B-7FA2-7EA6-61980E75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5E4A8F-91FC-808E-6657-1AF65918188A}"/>
              </a:ext>
            </a:extLst>
          </p:cNvPr>
          <p:cNvSpPr txBox="1"/>
          <p:nvPr/>
        </p:nvSpPr>
        <p:spPr>
          <a:xfrm>
            <a:off x="261045" y="762000"/>
            <a:ext cx="11865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2-1.</a:t>
            </a:r>
            <a:r>
              <a:rPr lang="ko-KR" altLang="en-US" sz="4800" dirty="0"/>
              <a:t> 재단</a:t>
            </a:r>
            <a:r>
              <a:rPr lang="en-US" altLang="ko-KR" sz="4800" dirty="0"/>
              <a:t>: </a:t>
            </a:r>
            <a:r>
              <a:rPr lang="ko-KR" altLang="en-US" sz="4800" dirty="0"/>
              <a:t>재단완료 수량 체크된 작업의뢰서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B56E96-E70B-4F0D-25FE-AB1CB898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AB56C-7C70-4190-4A80-593A67047B0F}"/>
              </a:ext>
            </a:extLst>
          </p:cNvPr>
          <p:cNvSpPr txBox="1"/>
          <p:nvPr/>
        </p:nvSpPr>
        <p:spPr>
          <a:xfrm>
            <a:off x="248345" y="-5502"/>
            <a:ext cx="954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4.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생산실적 집계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53971-FB49-14DF-63A5-5831A1C5CBEE}"/>
              </a:ext>
            </a:extLst>
          </p:cNvPr>
          <p:cNvSpPr txBox="1"/>
          <p:nvPr/>
        </p:nvSpPr>
        <p:spPr>
          <a:xfrm>
            <a:off x="9311248" y="2723568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/>
              <a:t>해당 </a:t>
            </a:r>
            <a:r>
              <a:rPr lang="ko-KR" altLang="en-US" sz="2400" dirty="0" err="1"/>
              <a:t>복층수량에</a:t>
            </a:r>
            <a:r>
              <a:rPr lang="ko-KR" altLang="en-US" sz="2400" dirty="0"/>
              <a:t> 대한 체크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사용한 원판 </a:t>
            </a:r>
            <a:r>
              <a:rPr lang="en-US" altLang="ko-KR" sz="2400" dirty="0"/>
              <a:t>/ </a:t>
            </a:r>
            <a:r>
              <a:rPr lang="ko-KR" altLang="en-US" sz="2400" dirty="0"/>
              <a:t>종류 </a:t>
            </a:r>
            <a:r>
              <a:rPr lang="en-US" altLang="ko-KR" sz="2400" dirty="0"/>
              <a:t>/ </a:t>
            </a:r>
            <a:r>
              <a:rPr lang="ko-KR" altLang="en-US" sz="2400" dirty="0"/>
              <a:t>수량에 대한 수기 사항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A859BF-09CA-7254-360D-475BDCDEE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8" y="2057400"/>
            <a:ext cx="812817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6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DEE0F-7EA3-065B-8FE6-37C5CBDE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B4152-48BF-33D6-9F4E-BD7FD4D7EED5}"/>
              </a:ext>
            </a:extLst>
          </p:cNvPr>
          <p:cNvSpPr txBox="1"/>
          <p:nvPr/>
        </p:nvSpPr>
        <p:spPr>
          <a:xfrm>
            <a:off x="261045" y="762000"/>
            <a:ext cx="138518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2-2.</a:t>
            </a:r>
            <a:r>
              <a:rPr lang="ko-KR" altLang="en-US" sz="4800" dirty="0"/>
              <a:t> 재단</a:t>
            </a:r>
            <a:r>
              <a:rPr lang="en-US" altLang="ko-KR" sz="4800" dirty="0"/>
              <a:t>: </a:t>
            </a:r>
            <a:r>
              <a:rPr lang="ko-KR" altLang="en-US" sz="4800" dirty="0"/>
              <a:t>수기 작업의뢰서 바탕으로 절단일보 작성</a:t>
            </a:r>
            <a:endParaRPr lang="en-US" altLang="ko-KR" sz="4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712388-7A58-4A2E-5EE3-3250545E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" y="388302"/>
            <a:ext cx="11628000" cy="182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81518A-E3FB-4BCE-1E29-22578E8CDDCA}"/>
              </a:ext>
            </a:extLst>
          </p:cNvPr>
          <p:cNvSpPr txBox="1"/>
          <p:nvPr/>
        </p:nvSpPr>
        <p:spPr>
          <a:xfrm>
            <a:off x="248345" y="-5502"/>
            <a:ext cx="954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동일유리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&amp;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충북대학교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AX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공동과제 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– 4.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</a:t>
            </a:r>
            <a:r>
              <a:rPr kumimoji="1" lang="en-US" altLang="ko-KR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kumimoji="1" lang="ko-KR" altLang="en-US" sz="2800" b="1" dirty="0">
                <a:solidFill>
                  <a:srgbClr val="0034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생산실적 집계</a:t>
            </a:r>
            <a:endParaRPr kumimoji="1" lang="ko-Kore-KR" altLang="en-US" sz="2800" b="1" dirty="0">
              <a:solidFill>
                <a:srgbClr val="0034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A0381-65CE-8109-5F38-A184FE1FAE7D}"/>
              </a:ext>
            </a:extLst>
          </p:cNvPr>
          <p:cNvSpPr txBox="1"/>
          <p:nvPr/>
        </p:nvSpPr>
        <p:spPr>
          <a:xfrm>
            <a:off x="9311248" y="2723568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/>
              <a:t>좌측</a:t>
            </a:r>
            <a:r>
              <a:rPr lang="en-US" altLang="ko-KR" sz="2400" dirty="0"/>
              <a:t>: </a:t>
            </a:r>
            <a:r>
              <a:rPr lang="ko-KR" altLang="en-US" sz="2400" dirty="0"/>
              <a:t>절단한 유리를 사용할 </a:t>
            </a:r>
            <a:r>
              <a:rPr lang="ko-KR" altLang="en-US" sz="2400" dirty="0" err="1"/>
              <a:t>복층유리</a:t>
            </a:r>
            <a:r>
              <a:rPr lang="ko-KR" altLang="en-US" sz="2400" dirty="0"/>
              <a:t> 정보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사용한 원판 </a:t>
            </a:r>
            <a:r>
              <a:rPr lang="en-US" altLang="ko-KR" sz="2400" dirty="0"/>
              <a:t>/ </a:t>
            </a:r>
            <a:r>
              <a:rPr lang="ko-KR" altLang="en-US" sz="2400" dirty="0"/>
              <a:t>종류 </a:t>
            </a:r>
            <a:r>
              <a:rPr lang="en-US" altLang="ko-KR" sz="2400" dirty="0"/>
              <a:t>/ </a:t>
            </a:r>
            <a:r>
              <a:rPr lang="ko-KR" altLang="en-US" sz="2400" dirty="0"/>
              <a:t>수량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11306B-FF73-69DC-40DB-B1753295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09462"/>
            <a:ext cx="8319620" cy="7215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D6F30A-CEC0-DD29-9D42-01C6E5F4D4A3}"/>
              </a:ext>
            </a:extLst>
          </p:cNvPr>
          <p:cNvSpPr txBox="1"/>
          <p:nvPr/>
        </p:nvSpPr>
        <p:spPr>
          <a:xfrm>
            <a:off x="8966200" y="4876800"/>
            <a:ext cx="74526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u="sng" dirty="0"/>
              <a:t>개선희망사항</a:t>
            </a:r>
            <a:endParaRPr lang="en-US" altLang="ko-KR" sz="4000" u="sng" dirty="0"/>
          </a:p>
          <a:p>
            <a:r>
              <a:rPr lang="en-US" altLang="ko-KR" sz="4000" dirty="0"/>
              <a:t>: </a:t>
            </a:r>
            <a:r>
              <a:rPr lang="ko-KR" altLang="en-US" sz="4000" dirty="0"/>
              <a:t>작업의뢰서 바탕으로 자동 정리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85482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442</Words>
  <Application>Microsoft Office PowerPoint</Application>
  <PresentationFormat>사용자 지정</PresentationFormat>
  <Paragraphs>76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NanumGothic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Tae Yoon Kim</dc:creator>
  <cp:lastModifiedBy>Tae Yoon Kim</cp:lastModifiedBy>
  <cp:revision>13</cp:revision>
  <dcterms:created xsi:type="dcterms:W3CDTF">2006-08-16T00:00:00Z</dcterms:created>
  <dcterms:modified xsi:type="dcterms:W3CDTF">2026-08-26T03:44:32Z</dcterms:modified>
</cp:coreProperties>
</file>